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descriptions (abridged on the slide):</a:t>
            </a:r>
          </a:p>
          <a:p/>
          <a:p>
            <a:r>
              <a:t>fetchpdf — Our fetchpdf system attempts to pull the XML, HTML, and PDF as well as supplementary information and data. If it cannot pull from an API it provides a list of missing PDFs for a human to try to obtain. github.com/The-Metascience-Observatory/fetchpdf</a:t>
            </a:r>
          </a:p>
          <a:p/>
          <a:p>
            <a:r>
              <a:t>Extraction &amp; conversion — Where a PDF becomes checkable text and tables. Docling does the conversion: 92% precision / 96% recall on numeric-cell ground truth, against pdfplumber's 88% / 61%; pdfplumber also mangles the statistics themselves. Results cached with the extractor version stamped; scanned PDFs detected and named rather than read as empty; the reference list split from the body. Publisher XML is preferred over the PDF wherever it exists.</a:t>
            </a:r>
          </a:p>
          <a:p/>
          <a:p>
            <a:r>
              <a:t>Image finding adjudication — Asks the one question the detector cannot: do these panels share pixels for a legitimate reason (a template under a statistical map, one field in several channels, an overview beside its own magnified detail)? It may only DOWNGRADE. Read access, no statistical tools. A clear is rejected unless it actually opened the images. 'Unexplained' means the ordinary reasons do not fit, not that anything is wrong.</a:t>
            </a:r>
          </a:p>
          <a:p/>
          <a:p>
            <a:r>
              <a:t>Adjudicator — Deduplicates across the four streams, triages misapplications and innocent explanations, sets the final severity, writes the paper-level verdict. Its power to raise a severity is bounded in code, not requested in a prompt.</a:t>
            </a:r>
          </a:p>
          <a:p/>
          <a:p>
            <a:r>
              <a:t>Why the fan-out: four independent analysers see the paper at once and none can see what the others found, so a finding that survives is not one detector talking itself into a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7315200" cy="20116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500" b="1">
                <a:solidFill>
                  <a:srgbClr val="1D2530"/>
                </a:solidFill>
              </a:rPr>
              <a:t>How the forensic metascience agent analyses a paper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24247" y="548640"/>
            <a:ext cx="2743200" cy="329184"/>
          </a:xfrm>
          <a:prstGeom prst="roundRect">
            <a:avLst>
              <a:gd name="adj" fmla="val 10000"/>
            </a:avLst>
          </a:prstGeom>
          <a:solidFill>
            <a:srgbClr val="E8F4F8"/>
          </a:solidFill>
          <a:ln w="25400">
            <a:solidFill>
              <a:srgbClr val="0D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1D2530"/>
                </a:solidFill>
              </a:rPr>
              <a:t>A DOI</a:t>
            </a:r>
          </a:p>
        </p:txBody>
      </p:sp>
      <p:sp>
        <p:nvSpPr>
          <p:cNvPr id="4" name="Down Arrow 3"/>
          <p:cNvSpPr/>
          <p:nvPr/>
        </p:nvSpPr>
        <p:spPr>
          <a:xfrm>
            <a:off x="6018123" y="877824"/>
            <a:ext cx="155448" cy="182879"/>
          </a:xfrm>
          <a:prstGeom prst="downArrow">
            <a:avLst/>
          </a:prstGeom>
          <a:solidFill>
            <a:srgbClr val="1D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63927" y="1060704"/>
            <a:ext cx="7863840" cy="475488"/>
          </a:xfrm>
          <a:prstGeom prst="roundRect">
            <a:avLst>
              <a:gd name="adj" fmla="val 10000"/>
            </a:avLst>
          </a:prstGeom>
          <a:solidFill>
            <a:srgbClr val="F0F2F4"/>
          </a:solidFill>
          <a:ln w="25400">
            <a:solidFill>
              <a:srgbClr val="1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1D2530"/>
                </a:solidFill>
              </a:rPr>
              <a:t>fetchpdf</a:t>
            </a:r>
          </a:p>
          <a:p>
            <a:pPr algn="ctr"/>
            <a:r>
              <a:rPr sz="800">
                <a:solidFill>
                  <a:srgbClr val="1D2530"/>
                </a:solidFill>
              </a:rPr>
              <a:t>Pulls the XML, HTML and PDF plus supplementary information and data. What no API will give up is listed for a human to obtain.</a:t>
            </a:r>
          </a:p>
        </p:txBody>
      </p:sp>
      <p:sp>
        <p:nvSpPr>
          <p:cNvPr id="6" name="Down Arrow 5"/>
          <p:cNvSpPr/>
          <p:nvPr/>
        </p:nvSpPr>
        <p:spPr>
          <a:xfrm>
            <a:off x="6018123" y="1536192"/>
            <a:ext cx="155448" cy="182879"/>
          </a:xfrm>
          <a:prstGeom prst="downArrow">
            <a:avLst/>
          </a:prstGeom>
          <a:solidFill>
            <a:srgbClr val="1D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63927" y="1719072"/>
            <a:ext cx="7863840" cy="420624"/>
          </a:xfrm>
          <a:prstGeom prst="roundRect">
            <a:avLst>
              <a:gd name="adj" fmla="val 10000"/>
            </a:avLst>
          </a:prstGeom>
          <a:solidFill>
            <a:srgbClr val="F0F2F4"/>
          </a:solidFill>
          <a:ln w="25400">
            <a:solidFill>
              <a:srgbClr val="1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1D2530"/>
                </a:solidFill>
              </a:rPr>
              <a:t>Extraction &amp; conversion</a:t>
            </a:r>
          </a:p>
          <a:p>
            <a:pPr algn="ctr"/>
            <a:r>
              <a:rPr sz="800">
                <a:solidFill>
                  <a:srgbClr val="1D2530"/>
                </a:solidFill>
              </a:rPr>
              <a:t>PDF to checkable text and tables (docling), cached and version-stamped</a:t>
            </a:r>
          </a:p>
        </p:txBody>
      </p:sp>
      <p:sp>
        <p:nvSpPr>
          <p:cNvPr id="8" name="Down Arrow 7"/>
          <p:cNvSpPr/>
          <p:nvPr/>
        </p:nvSpPr>
        <p:spPr>
          <a:xfrm>
            <a:off x="6018123" y="2139696"/>
            <a:ext cx="155448" cy="182880"/>
          </a:xfrm>
          <a:prstGeom prst="downArrow">
            <a:avLst/>
          </a:prstGeom>
          <a:solidFill>
            <a:srgbClr val="1D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2322576"/>
            <a:ext cx="11420856" cy="2121408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19050">
            <a:solidFill>
              <a:srgbClr val="6B74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0116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800" b="1">
                <a:solidFill>
                  <a:srgbClr val="6B7480"/>
                </a:solidFill>
              </a:rPr>
              <a:t>ALL FOUR RUN CONCURRENTLY — NONE WAITS ON ANOTHER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33472"/>
            <a:ext cx="2697480" cy="786384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50" b="1">
                <a:solidFill>
                  <a:srgbClr val="1D2530"/>
                </a:solidFill>
              </a:rPr>
              <a:t>Image track</a:t>
            </a:r>
          </a:p>
          <a:p>
            <a:pPr algn="ctr"/>
            <a:r>
              <a:rPr sz="750">
                <a:solidFill>
                  <a:srgbClr val="1D2530"/>
                </a:solidFill>
              </a:rPr>
              <a:t>Deterministic, own process. Panel harvest, furniture screen, four detection tiers, then the gates.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837944" y="3419856"/>
            <a:ext cx="118872" cy="146303"/>
          </a:xfrm>
          <a:prstGeom prst="downArrow">
            <a:avLst/>
          </a:prstGeom>
          <a:solidFill>
            <a:srgbClr val="1D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56616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50" b="1">
                <a:solidFill>
                  <a:srgbClr val="1D2530"/>
                </a:solidFill>
              </a:rPr>
              <a:t>Image finding adjudication</a:t>
            </a:r>
          </a:p>
          <a:p>
            <a:pPr algn="ctr"/>
            <a:r>
              <a:rPr sz="750">
                <a:solidFill>
                  <a:srgbClr val="1D2530"/>
                </a:solidFill>
              </a:rPr>
              <a:t>A model pass per retained group: is there a legitimate reason these panels share pixels? DOWNGRADE ONLY — it can clear, never escalate.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2424" y="2633472"/>
            <a:ext cx="2697480" cy="786384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50" b="1">
                <a:solidFill>
                  <a:srgbClr val="1D2530"/>
                </a:solidFill>
              </a:rPr>
              <a:t>Text track</a:t>
            </a:r>
          </a:p>
          <a:p>
            <a:pPr algn="ctr"/>
            <a:r>
              <a:rPr sz="750">
                <a:solidFill>
                  <a:srgbClr val="1D2530"/>
                </a:solidFill>
              </a:rPr>
              <a:t>Deterministic, own process. Fingerprint dictionary, then five guards decide what counts.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633472"/>
            <a:ext cx="2697480" cy="786384"/>
          </a:xfrm>
          <a:prstGeom prst="roundRect">
            <a:avLst>
              <a:gd name="adj" fmla="val 10000"/>
            </a:avLst>
          </a:prstGeom>
          <a:solidFill>
            <a:srgbClr val="E8F4F8"/>
          </a:solidFill>
          <a:ln w="25400">
            <a:solidFill>
              <a:srgbClr val="0D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50" b="1">
                <a:solidFill>
                  <a:srgbClr val="1D2530"/>
                </a:solidFill>
              </a:rPr>
              <a:t>Tool-expert agent</a:t>
            </a:r>
          </a:p>
          <a:p>
            <a:pPr algn="ctr"/>
            <a:r>
              <a:rPr sz="750">
                <a:solidFill>
                  <a:srgbClr val="1D2530"/>
                </a:solidFill>
              </a:rPr>
              <a:t>Points the forensic toolkit at the paper's numbers. No web, no code execution.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2633472"/>
            <a:ext cx="2697480" cy="786384"/>
          </a:xfrm>
          <a:prstGeom prst="roundRect">
            <a:avLst>
              <a:gd name="adj" fmla="val 10000"/>
            </a:avLst>
          </a:prstGeom>
          <a:solidFill>
            <a:srgbClr val="E8F4F8"/>
          </a:solidFill>
          <a:ln w="25400">
            <a:solidFill>
              <a:srgbClr val="0D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50" b="1">
                <a:solidFill>
                  <a:srgbClr val="1D2530"/>
                </a:solidFill>
              </a:rPr>
              <a:t>Science-error agent</a:t>
            </a:r>
          </a:p>
          <a:p>
            <a:pPr algn="ctr"/>
            <a:r>
              <a:rPr sz="750">
                <a:solidFill>
                  <a:srgbClr val="1D2530"/>
                </a:solidFill>
              </a:rPr>
              <a:t>Reads as a scientist would: contradictions, flow arithmetic, claims against the literature. Web on, sandboxed Python.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018123" y="4443984"/>
            <a:ext cx="155448" cy="182879"/>
          </a:xfrm>
          <a:prstGeom prst="downArrow">
            <a:avLst/>
          </a:prstGeom>
          <a:solidFill>
            <a:srgbClr val="1D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163927" y="4626864"/>
            <a:ext cx="786384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1D2530"/>
                </a:solidFill>
              </a:rPr>
              <a:t>Validation passes</a:t>
            </a:r>
          </a:p>
          <a:p>
            <a:pPr algn="ctr"/>
            <a:r>
              <a:rPr sz="800">
                <a:solidFill>
                  <a:srgbClr val="1D2530"/>
                </a:solidFill>
              </a:rPr>
              <a:t>Deterministic code: verify every quote, join tool verdicts, apply severity clamps, flag unbacked claims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018123" y="5029200"/>
            <a:ext cx="155448" cy="164591"/>
          </a:xfrm>
          <a:prstGeom prst="downArrow">
            <a:avLst/>
          </a:prstGeom>
          <a:solidFill>
            <a:srgbClr val="1D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63927" y="5193792"/>
            <a:ext cx="7863840" cy="457200"/>
          </a:xfrm>
          <a:prstGeom prst="roundRect">
            <a:avLst>
              <a:gd name="adj" fmla="val 10000"/>
            </a:avLst>
          </a:prstGeom>
          <a:solidFill>
            <a:srgbClr val="164E63"/>
          </a:solidFill>
          <a:ln w="25400">
            <a:solidFill>
              <a:srgbClr val="164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Adjudicator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One model pass. Deduplicates, triages, sets the final severity. A referee — it mints no findings.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6018123" y="5650992"/>
            <a:ext cx="155448" cy="164592"/>
          </a:xfrm>
          <a:prstGeom prst="downArrow">
            <a:avLst/>
          </a:prstGeom>
          <a:solidFill>
            <a:srgbClr val="1D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63927" y="5815584"/>
            <a:ext cx="78638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1D2530"/>
                </a:solidFill>
              </a:rPr>
              <a:t>Final validation passes</a:t>
            </a:r>
          </a:p>
          <a:p>
            <a:pPr algn="ctr"/>
            <a:r>
              <a:rPr sz="800">
                <a:solidFill>
                  <a:srgbClr val="1D2530"/>
                </a:solidFill>
              </a:rPr>
              <a:t>Titles, severity clamps re-applied, persisted anchors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018123" y="6181344"/>
            <a:ext cx="155448" cy="146304"/>
          </a:xfrm>
          <a:prstGeom prst="downArrow">
            <a:avLst/>
          </a:prstGeom>
          <a:solidFill>
            <a:srgbClr val="1D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163927" y="6327648"/>
            <a:ext cx="78638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1D2530"/>
                </a:solidFill>
              </a:rPr>
              <a:t>Report, archive, database</a:t>
            </a:r>
          </a:p>
          <a:p>
            <a:pPr algn="ctr"/>
            <a:r>
              <a:rPr sz="800">
                <a:solidFill>
                  <a:srgbClr val="1D2530"/>
                </a:solidFill>
              </a:rPr>
              <a:t>Structured review, full run archive, queryable findings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